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Klassifikation deutscher Verkehrsschilder</a:t>
            </a:r>
          </a:p>
          <a:p>
            <a:pPr>
              <a:defRPr sz="2400">
                <a:solidFill>
                  <a:srgbClr val="C9D3E6"/>
                </a:solidFill>
              </a:defRPr>
            </a:pPr>
            <a:r>
              <a:t>mit neuronalen Netzen (GTSRB-Datensatz)</a:t>
            </a:r>
          </a:p>
          <a:p/>
          <a:p>
            <a:pPr>
              <a:defRPr sz="1500">
                <a:solidFill>
                  <a:srgbClr val="9FB0D0"/>
                </a:solidFill>
              </a:defRPr>
            </a:pPr>
            <a:r>
              <a:t>KI-Praktikum 2  ·  Name(n)  ·  18.06.2026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Aufgabenstellung &amp; Ziel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</a:rPr>
              <a:t>• Ziel: aus einem Bild das Verkehrsschild klassifizieren (43 Klassen)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864"/>
                </a:solidFill>
              </a:rPr>
              <a:t>• Drei Teilaufgaben: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95959"/>
                </a:solidFill>
              </a:rPr>
              <a:t>– Eigene CNN-Modelle entwickeln (mind. 3 Architekturen)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95959"/>
                </a:solidFill>
              </a:rPr>
              <a:t>– Vortrainiertes YOLO-Modell anwenden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95959"/>
                </a:solidFill>
              </a:rPr>
              <a:t>– YOLO per Finetuning an GTSRB anpassen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864"/>
                </a:solidFill>
              </a:rPr>
              <a:t>• Vorgaben: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95959"/>
                </a:solidFill>
              </a:rPr>
              <a:t>– Jedes eigene Modell ≥ 90 % Validierungs-Accuracy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95959"/>
                </a:solidFill>
              </a:rPr>
              <a:t>– Bestes Modell anhand der Konfusionsmatrix auswählen &amp; begründen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Der Datensatz (GTSRB)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</a:rPr>
              <a:t>• ~50.000 Bilder, 43 Klassen von Verkehrsschildern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864"/>
                </a:solidFill>
              </a:rPr>
              <a:t>• Einheitlich auf 32 × 32 Pixel (RGB) skaliert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864"/>
                </a:solidFill>
              </a:rPr>
              <a:t>• 34.799 Trainings- / 4.410 Validierungs- / 12.630 Testbilder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</a:rPr>
              <a:t>• Unbalanciert: seltene Klassen nur ~30–60 Bilder, häufige &gt; 200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864"/>
                </a:solidFill>
              </a:rPr>
              <a:t>• Vorverarbeitung: Pixel auf [0,1] normiert, Daten gemischt (shuffle)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Methodik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</a:rPr>
              <a:t>• Framework: TensorFlow / Keras (Sequential API)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864"/>
                </a:solidFill>
              </a:rPr>
              <a:t>• Optimizer: Adam  ·  Loss: sparse categorical crossentropy  ·  Batch: 64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</a:rPr>
              <a:t>• EarlyStopping (patience = 3, restore_best_weights) gegen Overfitting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864"/>
                </a:solidFill>
              </a:rPr>
              <a:t>• Bewertung: Validierungs-Accuracy + Konfusionsmatrix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Eigene Modelle: 3 Architekturen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</a:rPr>
              <a:t>• Modell 1 – Basis-CNN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95959"/>
                </a:solidFill>
              </a:rPr>
              <a:t>– 2 Faltungsblöcke (32→64), MaxPool + Dropout, Dense(256) — einfache Referenz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</a:rPr>
              <a:t>• Modell 2 – Tiefes CNN + Batch Normalization (VGG-artig)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95959"/>
                </a:solidFill>
              </a:rPr>
              <a:t>– 3 Blöcke à 2 Conv (32→64→128), BatchNorm — höchste Kapazität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</a:rPr>
              <a:t>• Modell 3 – Schlankes, LeNet-inspiriertes CNN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95959"/>
                </a:solidFill>
              </a:rPr>
              <a:t>– 2 Conv (5×5, 16→32), AveragePooling, Dense(120→84) — sehr wenige Parameter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864"/>
                </a:solidFill>
              </a:rPr>
              <a:t>• → bewusst drei verschiedene Designphilosophien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Ergebnisse der eigenen Modelle (Validierung)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</a:rPr>
              <a:t>• Modell 1 (Basis-CNN): 96,94 %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</a:rPr>
              <a:t>• Modell 2 (BatchNorm): 97,82 %  ⭐ bestes Modell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</a:rPr>
              <a:t>• Modell 3 (LeNet): 93,47 %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864"/>
                </a:solidFill>
              </a:rPr>
              <a:t>• Alle Modelle ≥ 90 % erreicht ✓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95959"/>
                </a:solidFill>
              </a:rPr>
              <a:t>– Modell 3 trainiert ~10× schneller, aber ~4 Punkte schwächer</a:t>
            </a:r>
          </a:p>
        </p:txBody>
      </p:sp>
      <p:pic>
        <p:nvPicPr>
          <p:cNvPr id="4" name="Picture 3" descr="acc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67128"/>
            <a:ext cx="5577840" cy="33467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Modellvergleich per Konfusionsmatrix</a:t>
            </a:r>
          </a:p>
        </p:txBody>
      </p:sp>
      <p:pic>
        <p:nvPicPr>
          <p:cNvPr id="3" name="Picture 2" descr="cm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27479"/>
            <a:ext cx="11430000" cy="30944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95959"/>
                </a:solidFill>
              </a:defRPr>
            </a:pPr>
            <a:r>
              <a:t>Konfusionsmatrizen (Validierung) — bestes Modell: Modell 2 (BatchNorm) mit sauberster Diagonale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Analyse der Konfusionsmatrix (bestes Modell)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6400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</a:rPr>
              <a:t>• Häufigste Verwechslungen (echt → vorhergesagt):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95959"/>
                </a:solidFill>
              </a:rPr>
              <a:t>– Verbot LKW&gt;3,5t → Ende Überholverbot: 25×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95959"/>
                </a:solidFill>
              </a:rPr>
              <a:t>– Tempo 120 → Tempo 100: 13×  (ähnliche Ziffern)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95959"/>
                </a:solidFill>
              </a:rPr>
              <a:t>– Verengung rechts / Fußgänger → Gefahr allgemein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</a:rPr>
              <a:t>• Schwächste Klassen: seltene Schilder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95959"/>
                </a:solidFill>
              </a:rPr>
              <a:t>– Verbot LKW&gt;3,5t 58 %, Verengung rechts 70 %, Fußgänger 77 %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</a:rPr>
              <a:t>• Zuverlässig (100 %): Vorfahrtstraße, Vorfahrt gewähren, Tempo 80/100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</a:rPr>
              <a:t>• Höchste Accuracy = überzeugendste Matrix? Ja, Modell 2</a:t>
            </a:r>
          </a:p>
        </p:txBody>
      </p:sp>
      <p:pic>
        <p:nvPicPr>
          <p:cNvPr id="4" name="Picture 3" descr="cm_b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645920"/>
            <a:ext cx="49377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Finales Modell auf Testdaten (Modell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6400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</a:rPr>
              <a:t>• Test-Accuracy: 97,65 % auf 12.630 Testbildern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</a:rPr>
              <a:t>• Validierung war 97,82 %  →  nur −0,17 Punkte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95959"/>
                </a:solidFill>
              </a:rPr>
              <a:t>– sehr gute Generalisierung, praktisch kein Overfitting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864"/>
                </a:solidFill>
              </a:rPr>
              <a:t>• Häufigste Verwechslungen (Test):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95959"/>
                </a:solidFill>
              </a:rPr>
              <a:t>– Doppelkurve → Vorfahrtstraße, Tempo 120 → 60, Einfahrt verboten → Vorfahrtstraße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864"/>
                </a:solidFill>
              </a:rPr>
              <a:t>• Schwächste Klassen: Fußgänger (50 %), Doppelkurve (64 %)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95959"/>
                </a:solidFill>
              </a:rPr>
              <a:t>– wieder seltene Klassen — gleiches Muster wie bei der Validierung</a:t>
            </a:r>
          </a:p>
        </p:txBody>
      </p:sp>
      <p:pic>
        <p:nvPicPr>
          <p:cNvPr id="4" name="Picture 3" descr="cm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751428"/>
            <a:ext cx="4937760" cy="41781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Vortrainiertes YOLO (ohne Anpassung)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</a:rPr>
              <a:t>• Modell yolo26n-cls.pt (Ultralytics, auf ImageNet vortrainiert)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864"/>
                </a:solidFill>
              </a:rPr>
              <a:t>• Alle 4.410 Validierungsbilder klassifiziert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</a:rPr>
              <a:t>• Top-erkannte Klassen: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95959"/>
                </a:solidFill>
              </a:rPr>
              <a:t>– loupe (1227), punching_bag (279), digital_clock (243), milk_can (218) …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</a:rPr>
              <a:t>• Fazit: völlig ungeeignet — kennt keine Verkehrsschilder,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95959"/>
                </a:solidFill>
              </a:rPr>
              <a:t>– ordnet nur ImageNet-Alltagsobjekte zu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YOLO mit Finetuning: eingefroren vs. voll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6035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</a:rPr>
              <a:t>• Auflösung von imgsz 32 auf 64 erhöht — größter Hebel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95959"/>
                </a:solidFill>
              </a:rPr>
              <a:t>– vorher (imgsz 32): nur ~46 % Top-1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</a:rPr>
              <a:t>• Variante A – Backbone eingefroren (aufgaben-konform):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95959"/>
                </a:solidFill>
              </a:rPr>
              <a:t>– Top-1 = 70,41 %  —  Einfrieren begrenzt die Genauigkeit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</a:rPr>
              <a:t>• Variante B – volles Finetuning (Backbone mit-trainiert):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95959"/>
                </a:solidFill>
              </a:rPr>
              <a:t>– Top-1 = 95,31 %  ·  Top-5 = 99,71 %  ✓ ≥ 95 % erreicht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864"/>
                </a:solidFill>
              </a:rPr>
              <a:t>• Training auf Apple-GPU (MPS), je 30 Epochen, EarlyStopping</a:t>
            </a:r>
          </a:p>
        </p:txBody>
      </p:sp>
      <p:pic>
        <p:nvPicPr>
          <p:cNvPr id="4" name="Picture 3" descr="yolo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249424"/>
            <a:ext cx="5303520" cy="31821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YOLO (voll finetuned) – Konfusionsmatrix</a:t>
            </a:r>
          </a:p>
        </p:txBody>
      </p:sp>
      <p:pic>
        <p:nvPicPr>
          <p:cNvPr id="3" name="Picture 2" descr="yolo_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840" y="1371600"/>
            <a:ext cx="633984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95959"/>
                </a:solidFill>
              </a:defRPr>
            </a:pPr>
            <a:r>
              <a:t>Normalisierte Konfusionsmatrix des voll finetunten YOLO-Modells (Validierung, 95,31 % Top-1)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Gesamtvergleich der Ansätze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</a:rPr>
              <a:t>• Eigenes CNN (Modell 2): 97,82 % Val / 97,65 % Test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</a:rPr>
              <a:t>• YOLO finetuned (voll): 95,31 %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</a:rPr>
              <a:t>• YOLO finetuned (eingefroren): 70,41 %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</a:rPr>
              <a:t>• YOLO vortrainiert: unbrauchbar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864"/>
                </a:solidFill>
              </a:rPr>
              <a:t>• Eigenes CNN bleibt vorn — volles YOLO-Finetuning ist aber konkurrenzfähig</a:t>
            </a:r>
          </a:p>
        </p:txBody>
      </p:sp>
      <p:pic>
        <p:nvPicPr>
          <p:cNvPr id="4" name="Picture 3" descr="acc_over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78685"/>
            <a:ext cx="5577840" cy="31235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Fazit &amp; Ausblick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</a:rPr>
              <a:t>• 3 eigene CNNs trainiert — alle &gt; 90 %, bestes 97,82 % (BatchNorm)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</a:rPr>
              <a:t>• Finales Modell auf Testdaten bestätigt: 97,65 %, kein Overfitting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</a:rPr>
              <a:t>• Vortrainiertes YOLO ohne Anpassung wertlos für Spezialdomäne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</a:rPr>
              <a:t>• YOLO-Finetuning: Auflösung &amp; volles Training entscheidend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95959"/>
                </a:solidFill>
              </a:rPr>
              <a:t>– eingefroren ~70 %, voll finetuned 95,31 %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864"/>
                </a:solidFill>
              </a:rPr>
              <a:t>• Schlüsselkonzepte: Transfer Learning, Layer einfrieren, BatchNorm,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95959"/>
                </a:solidFill>
              </a:rPr>
              <a:t>– Datenungleichgewicht, Konfusionsmatrix-Analyse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